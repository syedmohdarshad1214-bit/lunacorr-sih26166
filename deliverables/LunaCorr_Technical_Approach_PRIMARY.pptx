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c584fc359049d4" /><Relationship Type="http://schemas.openxmlformats.org/officeDocument/2006/relationships/extended-properties" Target="/docProps/app.xml" Id="R0132798ec8674c33" /><Relationship Type="http://schemas.openxmlformats.org/officeDocument/2006/relationships/officeDocument" Target="/ppt/presentation.xml" Id="R8c5f9114662f41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fd871ec1d4438"/>
  </p:sldMasterIdLst>
  <p:notesMasterIdLst>
    <p:notesMasterId xmlns:r="http://schemas.openxmlformats.org/officeDocument/2006/relationships" r:id="R6a7a9b74cbdb4701"/>
  </p:notesMasterIdLst>
  <p:sldIdLst>
    <p:sldId xmlns:r="http://schemas.openxmlformats.org/officeDocument/2006/relationships" id="256" r:id="Refe9300400074510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322e34dc534523" /><Relationship Type="http://schemas.openxmlformats.org/officeDocument/2006/relationships/slideMaster" Target="/ppt/slideMasters/slideMaster1.xml" Id="R676fd871ec1d4438" /><Relationship Type="http://schemas.openxmlformats.org/officeDocument/2006/relationships/notesMaster" Target="/ppt/notesMasters/notesMaster1.xml" Id="R6a7a9b74cbdb4701" /><Relationship Type="http://schemas.openxmlformats.org/officeDocument/2006/relationships/presProps" Target="/ppt/presProps.xml" Id="R82d00b8562f94e26" /><Relationship Type="http://schemas.openxmlformats.org/officeDocument/2006/relationships/tableStyles" Target="/ppt/tableStyles.xml" Id="Rfcd5306f16e3493a" /><Relationship Type="http://schemas.openxmlformats.org/officeDocument/2006/relationships/slide" Target="/ppt/slides/slide1.xml" Id="Refe93004000745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2b9d12e4b347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7c3310ca684460" /><Relationship Type="http://schemas.openxmlformats.org/officeDocument/2006/relationships/notesMaster" Target="/ppt/notesMasters/notesMaster1.xml" Id="Rc4394c11660d4a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template: SIH_26166_UMBRA.pdf, page 3. The top sensor thumbnails are real saved REALPAIR005 candidate browse crops and are not co-registered. The checkpoint figure is a crop of REALPAIR005_science_v1/aligned_middle_evidence/sift_heldout_correspondences.png. Audit REALPAIR005_OHRC_TMC_ALIGNED_MIDDLE_VERIFICATION_V1 accepts local relative OHRC-to-TMC-2 registration in OHRC samples 1000–11000, lines 42000–58000, where camera/DTM support exists. SIFT has 878 accepted controls and 1.302 pixel RMSE on native 5 m TMC-2 ortho pixels; AKAZE has 410 accepted controls, with overlapping physical terrain. The audit explicitly abstains on full-strip registration and absolute 5 m ground accuracy. No TMC-2-to-IIRS image registration is claimed. Details and checksums: data/derived/REALPAIR005_science_v1/ALIGNED_MIDDLE_SCIENTIFIC_VERIFICATION.md and aligned_middle_decision.json.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b236ab29144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4f526c7813441a" /><Relationship Type="http://schemas.openxmlformats.org/officeDocument/2006/relationships/slideLayout" Target="/ppt/slideLayouts/slideLayout1.xml" Id="Re44e349ee04743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4e349ee04743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b87c4cba64f7a" /><Relationship Type="http://schemas.openxmlformats.org/officeDocument/2006/relationships/image" Target="/ppt/media/image.png" Id="Rd4cc68feee824b44" /><Relationship Type="http://schemas.openxmlformats.org/officeDocument/2006/relationships/image" Target="/ppt/media/image2.png" Id="R329d74f2ec334e1c" /><Relationship Type="http://schemas.openxmlformats.org/officeDocument/2006/relationships/image" Target="/ppt/media/image3.png" Id="Rdc269d6707044a54" /><Relationship Type="http://schemas.openxmlformats.org/officeDocument/2006/relationships/image" Target="/ppt/media/image4.png" Id="R94405bd65a7649ff" /><Relationship Type="http://schemas.openxmlformats.org/officeDocument/2006/relationships/image" Target="/ppt/media/image5.png" Id="Re38feab07b6e42ea" /><Relationship Type="http://schemas.openxmlformats.org/officeDocument/2006/relationships/notesSlide" Target="/ppt/notesSlides/notesSlide1.xml" Id="R0fd1ecd8054248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c68feee824b44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00A7B-5632-49E7-BC12-05C47CCF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419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1 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C65A0-7C62-4EFF-BDC0-A4FE63C4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23975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0.25 m  →  5 m  →  80 m     TMC-2 BRIDGES THE 320×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40C0C-D0EE-4366-B055-BA86364C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23825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6193">
            <a:solidFill>
              <a:srgbClr val="076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73C88-81CF-45F8-A0F7-95262B91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57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12383">
            <a:solidFill>
              <a:srgbClr val="B6C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0AE63-3D8E-4D32-B936-C6A692B7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352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CHANDRAYAAN-2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157AA-2472-4158-A4A6-D2E89C31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43125"/>
            <a:ext cx="2362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9525">
            <a:solidFill>
              <a:srgbClr val="EB9C91"/>
            </a:solidFill>
            <a:prstDash val="solid"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d74f2ec334e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2190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2C0E3-BF3D-474E-BB3C-4F5B5E49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1907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OHRC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7409B-CA17-4B2E-8780-E05AFAA5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09825"/>
            <a:ext cx="1657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0.25–0.30 m/px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6A398-74B5-48BE-82BC-57E70213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43200"/>
            <a:ext cx="2362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5E8"/>
          </a:solidFill>
          <a:ln xmlns:a="http://schemas.openxmlformats.org/drawingml/2006/main" w="9525">
            <a:solidFill>
              <a:srgbClr val="90CBA7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69d6707044a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27908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1D10A-7DFA-4DE9-A82D-1A163DEE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908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TMC-2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2374C-4838-454F-ACE7-D34F93D7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09900"/>
            <a:ext cx="1657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~5 m/px · ortho + DTM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91880-EDC9-490E-A48C-E3246B4F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43275"/>
            <a:ext cx="2362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D5"/>
          </a:solidFill>
          <a:ln xmlns:a="http://schemas.openxmlformats.org/drawingml/2006/main" w="9525">
            <a:solidFill>
              <a:srgbClr val="E5C865"/>
            </a:solidFill>
            <a:prstDash val="solid"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05bd65a7649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33909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B690B-2B19-4DC5-9C19-44DFC52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909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IIRS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BD633-0C04-4E5B-A908-7DC90E3E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09975"/>
            <a:ext cx="1657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~80 m/px · 256 bands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1131F-DD79-43E5-B0EC-277A0580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09775"/>
            <a:ext cx="1504950" cy="18097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9F4FD"/>
          </a:solidFill>
          <a:ln xmlns:a="http://schemas.openxmlformats.org/drawingml/2006/main" w="14288">
            <a:solidFill>
              <a:srgbClr val="8BBD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9597B-CB31-4D22-B3BA-DA99896C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859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BDE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BDE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BCD8A-1501-4122-822F-1F70808E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76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BBD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83ADF-860B-4D77-B25B-3C0ABE5B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050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B3801-3522-4FC8-9C2A-B9846F07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57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D9A15-AFF9-4E10-A77A-105E5D22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52725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PDS4 labels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SPICE pointing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checksums + IDs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E7148-303D-483D-8096-A08240C0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9775"/>
            <a:ext cx="1504950" cy="18097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9F4FD"/>
          </a:solidFill>
          <a:ln xmlns:a="http://schemas.openxmlformats.org/drawingml/2006/main" w="14288">
            <a:solidFill>
              <a:srgbClr val="8BBD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9548C-8322-491C-AD37-B5158A4D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859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BDE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BBDE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D4E20-CAD6-4E83-8730-A54C00BD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76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BBD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79CDF-BEAA-4182-A68D-98087BEA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050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EEF168-F826-48D2-B80E-993F6457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57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56D26-E31B-4308-AC65-4FB81D07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52725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Lunar CRS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true footprint ∩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common ROI + DEM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9505F1-2DE2-469B-9D77-5F0971BE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9775"/>
            <a:ext cx="1504950" cy="18097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0EEFA"/>
          </a:solidFill>
          <a:ln xmlns:a="http://schemas.openxmlformats.org/drawingml/2006/main" w="14288">
            <a:solidFill>
              <a:srgbClr val="A999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DB1CA-5D63-4E14-B5E7-4BC23C40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859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9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99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30AB25-87A1-4F1E-A9A9-D699A6C2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999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3052F5-AA64-4EFD-B714-E16279E1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050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D8D373-EA36-4157-814B-3799C014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AB789E-2156-4E12-B230-F32B892C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52725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shadow masks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gradients / ridges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selected IIRS bands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1E749-F22C-4525-A800-05894BFE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9775"/>
            <a:ext cx="1504950" cy="18097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6F5E8"/>
          </a:solidFill>
          <a:ln xmlns:a="http://schemas.openxmlformats.org/drawingml/2006/main" w="14288">
            <a:solidFill>
              <a:srgbClr val="7DBE9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3C85CA-175C-4244-9AA1-D9B0E557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859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BE9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BE9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6AE03A-BD3C-4370-9FBC-7E64590D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76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BE9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CB50AA-2DB8-4946-9DC2-793CE24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050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9D4894-9A65-4175-B4D4-F6AA7E0B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57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TMC-2 BRIDGE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68E2B1-1483-4DC9-85BC-EAFA685C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52725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OHRC → TMC-2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TMC-2 ← IIRS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bounded search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B067B5-3AC5-4F6D-8E63-2D942BF4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009775"/>
            <a:ext cx="24955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3D5"/>
          </a:solidFill>
          <a:ln xmlns:a="http://schemas.openxmlformats.org/drawingml/2006/main" w="14288">
            <a:solidFill>
              <a:srgbClr val="D8B85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1697A8-073E-4623-A779-4BA18D79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859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B85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8B8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046C70-EA4A-42F2-B443-97A27B34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76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8B8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F81FBB-E91B-4F75-AC5D-677533B3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1050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38F7B1-C96F-4983-B9D3-48B92B3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574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EVIDENCE 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CC1113-7983-4D5B-A187-47F16E0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75272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RANSAC/MAGSAC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held-out + reverse checks</a:t>
            </a:r>
          </a:p>
          <a:p xmlns:a="http://schemas.openxmlformats.org/drawingml/2006/main">
            <a:pPr algn="ctr">
              <a:defRPr sz="1125" b="0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14D"/>
                </a:solidFill>
                <a:latin typeface="Arial"/>
                <a:ea typeface="Arial"/>
                <a:cs typeface="Arial"/>
              </a:rPr>
              <a:t>coverage + RMSE / P90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0C2393-870D-46D9-9C5D-D138AA9E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3A8A0C-8F54-4C7A-9C51-72E8DF87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7813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0D4E6D-AE6B-4DEC-BF96-E6AC6D5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813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FD7835-0CD0-4F14-928E-A28A9194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55A395-1077-436D-AAD3-572BAF30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7813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2A8694-559B-4BF3-A6F2-0DE0FC4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00425"/>
            <a:ext cx="2228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F5E8"/>
          </a:solidFill>
          <a:ln xmlns:a="http://schemas.openxmlformats.org/drawingml/2006/main" w="11430">
            <a:solidFill>
              <a:srgbClr val="78BB8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523E15-A295-4DE4-97EB-EFB01B2D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4575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64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6441"/>
                </a:solidFill>
                <a:latin typeface="Arial"/>
                <a:ea typeface="Arial"/>
                <a:cs typeface="Arial"/>
              </a:rPr>
              <a:t>REGISTER  ·  ABSTAIN  ·  REJECT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31AA77-D6E0-4580-A60B-264B5F52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814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835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8354"/>
                </a:solidFill>
                <a:latin typeface="Arial"/>
                <a:ea typeface="Arial"/>
                <a:cs typeface="Arial"/>
              </a:rPr>
              <a:t>IIRS LEG: NEXT PHASE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5CC37F-D02D-4F21-8751-62DA8B0D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2  IMPLEMENTATION FLOWCHART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3A9CB9-2B4A-463A-9168-125D597C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7010400" cy="2314575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3335">
            <a:solidFill>
              <a:srgbClr val="8BBD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EA524C-AE45-4486-BD49-6142A39F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20097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F4FD"/>
          </a:solidFill>
          <a:ln xmlns:a="http://schemas.openxmlformats.org/drawingml/2006/main" w="10478">
            <a:solidFill>
              <a:srgbClr val="9EBA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3810D5-5A32-4F97-93EE-FDDDD41A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895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EED318-B0CC-43E2-82BE-4BC87205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863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Acquire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C09ACF-9D14-4F50-8688-ACEBB665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XML + browse</a:t>
            </a:r>
          </a:p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science ROI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3CE35B-814A-466F-BAFD-4D3233A4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0125"/>
            <a:ext cx="20097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F4FD"/>
          </a:solidFill>
          <a:ln xmlns:a="http://schemas.openxmlformats.org/drawingml/2006/main" w="10478">
            <a:solidFill>
              <a:srgbClr val="9EBA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0B11F5-CA7F-4265-90FA-D96D93F3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F5D769-B128-4E93-B56A-385B5B20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863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Clip overlap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CBE9AE-62E4-476C-800C-F03F5DFE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435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native polygons</a:t>
            </a:r>
          </a:p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common lunar CRS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334F7A-256C-466F-9244-B55E4B26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10125"/>
            <a:ext cx="20097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EEFA"/>
          </a:solidFill>
          <a:ln xmlns:a="http://schemas.openxmlformats.org/drawingml/2006/main" w="10478">
            <a:solidFill>
              <a:srgbClr val="9EBAD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C0DD7D-C4F2-42C6-A8CA-C5DC946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895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CA4E9F-C411-41D2-9940-FB95AEEC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863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57CA0B6-6CC8-4079-868B-AD2823F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1435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masks + pyramids</a:t>
            </a:r>
          </a:p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structural layers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A00824-F279-4BAD-AA6D-E1E69DBC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019800"/>
            <a:ext cx="20097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F5E8"/>
          </a:solidFill>
          <a:ln xmlns:a="http://schemas.openxmlformats.org/drawingml/2006/main" w="10478">
            <a:solidFill>
              <a:srgbClr val="9EBAD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4CB24C-8F4A-4D78-B539-DA3A2C90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1055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8D7E3A-54DB-4F1E-9D5F-B4D9A534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096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1196C9-D7CE-4311-B7F7-9AEFABC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353175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SIFT / AKAZE</a:t>
            </a:r>
          </a:p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reciprocal + ratio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864DCF1-4B49-45B6-8127-027A4BA7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019800"/>
            <a:ext cx="20097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3D5"/>
          </a:solidFill>
          <a:ln xmlns:a="http://schemas.openxmlformats.org/drawingml/2006/main" w="10478">
            <a:solidFill>
              <a:srgbClr val="9EBAD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8E4B0D-770D-4DDC-B326-37545A33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055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0393577-99BC-4BB5-8B84-1558735D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096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A004E6C-B3DF-4D9B-A6F0-5172A63A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353175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RANSAC · hold-out</a:t>
            </a:r>
          </a:p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cycle + coverage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B1D89D-2272-42FF-BF2F-5B4E5288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20097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0478">
            <a:solidFill>
              <a:srgbClr val="9EBAD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655272E-8A95-4252-9FFA-F385BD7E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055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6B59C42-AC56-4D59-A984-7AAAB9C8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96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Save verdict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BF17000-5C62-4112-A2F3-94803A87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53175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metrics · transform</a:t>
            </a:r>
          </a:p>
          <a:p xmlns:a="http://schemas.openxmlformats.org/drawingml/2006/main">
            <a:pPr algn="l">
              <a:defRPr sz="975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manifest + report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5CCDE8-3C1C-402D-BE54-D2E26FA9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673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D6D6272-A9A6-470E-AFF9-1E48D1B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673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E2F41D2-5704-4995-8EAC-33ADFE52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91175"/>
            <a:ext cx="161925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C58343D-698A-4CE6-8C19-C58AED3F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27697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FA3E888-5FF5-45D6-A83D-A250D415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27697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76FBF"/>
          </a:solidFill>
          <a:ln xmlns:a="http://schemas.openxmlformats.org/drawingml/2006/main" w="0">
            <a:solidFill>
              <a:srgbClr val="076FB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54A8E1-8F91-4674-B3C9-B68373A6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72275"/>
            <a:ext cx="668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FIXED GATE: thresholds stay unchanged. Every accepted point keeps its residual and provenance.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C66F4B3-7B1E-4A90-90B7-3859ACC5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333875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3  TECHNOLOGIES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A7CAEDF-6C81-4E12-A316-A8DF5600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676775"/>
            <a:ext cx="2276475" cy="23145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3335">
            <a:solidFill>
              <a:srgbClr val="8BBDE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8B9C21-D3DB-4C34-9AEA-0EC77A38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2028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C"/>
          </a:solidFill>
          <a:ln xmlns:a="http://schemas.openxmlformats.org/drawingml/2006/main" w="7620">
            <a:solidFill>
              <a:srgbClr val="C5DA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FAB4E84-7E6D-4F4F-A5CD-534D6684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886325"/>
            <a:ext cx="295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6BD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8C57DA6-FAEC-496A-962A-19B93A27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05375"/>
            <a:ext cx="276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6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6BD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01627ED-A0AF-4D23-A3DB-782FB149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48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PDS4 + SPICE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2170F7C-62B1-4CAF-8248-90B46304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577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labels · camera geometry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E98F35-987F-4D7F-ADEB-950CC4C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24475"/>
            <a:ext cx="2028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7620">
            <a:solidFill>
              <a:srgbClr val="C5DAE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3D8EB17-D8B1-4BB1-B851-DB63942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00675"/>
            <a:ext cx="295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61B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8365935-B798-40C2-B79D-AC1671ED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19725"/>
            <a:ext cx="276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D61B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1B8"/>
                </a:solidFill>
                <a:latin typeface="Arial"/>
                <a:ea typeface="Arial"/>
                <a:cs typeface="Arial"/>
              </a:rPr>
              <a:t>GIS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285295-09C3-4F52-A027-9CCFFF45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625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Shapely + PyProj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39EB102-4053-4027-A0ED-29636C8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7212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polygon intersection · CRS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AECE385-89F1-43CA-9AE6-8B294AD4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838825"/>
            <a:ext cx="2028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C"/>
          </a:solidFill>
          <a:ln xmlns:a="http://schemas.openxmlformats.org/drawingml/2006/main" w="7620">
            <a:solidFill>
              <a:srgbClr val="C5DAE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1A1407B-4E70-439F-A416-5AA0FE5F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915025"/>
            <a:ext cx="295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37E5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158D275-970D-478E-8854-CE06CA69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34075"/>
            <a:ext cx="276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7E5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7E50"/>
                </a:solidFill>
                <a:latin typeface="Arial"/>
                <a:ea typeface="Arial"/>
                <a:cs typeface="Arial"/>
              </a:rPr>
              <a:t>CV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27DE891-8EA0-4747-A85D-49DED08E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769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OpenCV + NumPy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3F84D07-6AED-4DBF-BBE5-7145C907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864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SIFT / AKAZE · RANSAC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EA49FD3-239A-4544-97B6-73C0E544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353175"/>
            <a:ext cx="2028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7620">
            <a:solidFill>
              <a:srgbClr val="C5DAE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C17185B-A834-4564-B10A-54511956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6429375"/>
            <a:ext cx="295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701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763EF80-8FDE-4FF2-AF23-565D237E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448425"/>
            <a:ext cx="276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701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7018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4A8C3FA-0C3A-4B3D-9453-1FD0100F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912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FastAPI + JSON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6E52DF2-5628-4168-91BB-0B0485BF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60082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1687A"/>
                </a:solidFill>
                <a:latin typeface="Arial"/>
                <a:ea typeface="Arial"/>
                <a:cs typeface="Arial"/>
              </a:rPr>
              <a:t>offline workbench · audits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6F35F38-42B5-4D24-A1F9-1AD30213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338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4  REAL DATA CHECKPOINT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34A2F95-F75C-407A-BF9B-CF06ECE5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676775"/>
            <a:ext cx="2647950" cy="2314575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14288">
            <a:solidFill>
              <a:srgbClr val="83C194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C88BB9F-1635-4509-8DB0-2EB30A49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762500"/>
            <a:ext cx="2447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REALPAIR005  ·  OHRC ↔ TMC-2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feab07b6e42ea"/>
          <a:srcRect xmlns:a="http://schemas.openxmlformats.org/drawingml/2006/main" l="0" t="4297" r="0" b="4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06075" y="5029200"/>
            <a:ext cx="2438400" cy="742950"/>
          </a:xfrm>
          <a:prstGeom xmlns:a="http://schemas.openxmlformats.org/drawingml/2006/main" prst="rect">
            <a:avLst/>
          </a:prstGeom>
        </p:spPr>
      </p:pic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B0038D5-2540-4960-BB26-F71C20EE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829300"/>
            <a:ext cx="24384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DF3E1"/>
          </a:solidFill>
          <a:ln xmlns:a="http://schemas.openxmlformats.org/drawingml/2006/main" w="9525">
            <a:solidFill>
              <a:srgbClr val="82BF8E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7F5F83C-ABB1-4B7D-83AC-E6669AC9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67400"/>
            <a:ext cx="2305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76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7640"/>
                </a:solidFill>
                <a:latin typeface="Arial"/>
                <a:ea typeface="Arial"/>
                <a:cs typeface="Arial"/>
              </a:rPr>
              <a:t>LOCAL RELATIVE REGISTRATION: PASS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8927E86-85D3-4CE1-8D5D-277EDDDE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124575"/>
            <a:ext cx="11811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7620">
            <a:solidFill>
              <a:srgbClr val="A5CFA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34D56B-2195-4FCB-889B-619EC3FB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124575"/>
            <a:ext cx="11811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FF5FB"/>
          </a:solidFill>
          <a:ln xmlns:a="http://schemas.openxmlformats.org/drawingml/2006/main" w="7620">
            <a:solidFill>
              <a:srgbClr val="A5C3D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43DD560-E1D5-4D05-844C-00673776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61531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7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640"/>
                </a:solidFill>
                <a:latin typeface="Arial"/>
                <a:ea typeface="Arial"/>
                <a:cs typeface="Arial"/>
              </a:rPr>
              <a:t>878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EB1C6D9-5F2B-40FA-BBE0-CB7DCCD3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6381750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1687A"/>
                </a:solidFill>
                <a:latin typeface="Arial"/>
                <a:ea typeface="Arial"/>
                <a:cs typeface="Arial"/>
              </a:rPr>
              <a:t>SIFT controls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968C083-8E1D-419A-9713-1C5A254D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61531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6F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6FBF"/>
                </a:solidFill>
                <a:latin typeface="Arial"/>
                <a:ea typeface="Arial"/>
                <a:cs typeface="Arial"/>
              </a:rPr>
              <a:t>1.302 px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AF23D87-1E17-43B3-8BC9-5E138DA4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6381750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168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1687A"/>
                </a:solidFill>
                <a:latin typeface="Arial"/>
                <a:ea typeface="Arial"/>
                <a:cs typeface="Arial"/>
              </a:rPr>
              <a:t>native TMC RMSE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FEF80B4-1E7B-4F9F-BC26-F4262CAE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591300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831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14D"/>
                </a:solidFill>
                <a:latin typeface="Arial"/>
                <a:ea typeface="Arial"/>
                <a:cs typeface="Arial"/>
              </a:rPr>
              <a:t>AKAZE: 410 controls (counts overlap)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DDAC0DD-8017-4FF1-9987-D30A87E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772275"/>
            <a:ext cx="2438400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DE8E9"/>
          </a:solidFill>
          <a:ln xmlns:a="http://schemas.openxmlformats.org/drawingml/2006/main" w="9525">
            <a:solidFill>
              <a:srgbClr val="DA9298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E43F99D-85D7-4907-8C12-1447ACB2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791325"/>
            <a:ext cx="2305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13D4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13D4A"/>
                </a:solidFill>
                <a:latin typeface="Arial"/>
                <a:ea typeface="Arial"/>
                <a:cs typeface="Arial"/>
              </a:rPr>
              <a:t>FULL STRIP + ABSOLUTE: ABSTAIN</a:t>
            </a:r>
          </a:p>
        </p:txBody>
      </p:sp>
    </p:spTree>
    <p:extLst>
      <p:ext uri="{BB962C8B-B14F-4D97-AF65-F5344CB8AC3E}">
        <p14:creationId xmlns:p14="http://schemas.microsoft.com/office/powerpoint/2010/main" val="211655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2026-09-29T04:22:00.0350000Z</dcterms:created>
  <dcterms:modified xsi:type="dcterms:W3CDTF">2026-09-29T04:22:00.0350000Z</dcterms:modified>
</coreProperties>
</file>